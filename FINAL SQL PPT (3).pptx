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4E379-2039-46F8-8883-75AD38D02B51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40DFA-D5BD-4844-92D2-99BC5B750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4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0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564" y="-39285"/>
            <a:ext cx="11662873" cy="677108"/>
          </a:xfr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7608" y="2130090"/>
            <a:ext cx="6080760" cy="287323"/>
          </a:xfrm>
        </p:spPr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5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564" y="-39285"/>
            <a:ext cx="11662873" cy="677108"/>
          </a:xfr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4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564" y="-39285"/>
            <a:ext cx="11662873" cy="677108"/>
          </a:xfr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6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7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6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14232" y="6184985"/>
            <a:ext cx="3225395" cy="6095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564" y="-39285"/>
            <a:ext cx="11662873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7608" y="2130090"/>
            <a:ext cx="60807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4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609585" eaLnBrk="1" hangingPunct="1">
        <a:defRPr>
          <a:latin typeface="+mn-lt"/>
          <a:ea typeface="+mn-ea"/>
          <a:cs typeface="+mn-cs"/>
        </a:defRPr>
      </a:lvl2pPr>
      <a:lvl3pPr marL="1219170" eaLnBrk="1" hangingPunct="1">
        <a:defRPr>
          <a:latin typeface="+mn-lt"/>
          <a:ea typeface="+mn-ea"/>
          <a:cs typeface="+mn-cs"/>
        </a:defRPr>
      </a:lvl3pPr>
      <a:lvl4pPr marL="1828754" eaLnBrk="1" hangingPunct="1">
        <a:defRPr>
          <a:latin typeface="+mn-lt"/>
          <a:ea typeface="+mn-ea"/>
          <a:cs typeface="+mn-cs"/>
        </a:defRPr>
      </a:lvl4pPr>
      <a:lvl5pPr marL="2438339" eaLnBrk="1" hangingPunct="1">
        <a:defRPr>
          <a:latin typeface="+mn-lt"/>
          <a:ea typeface="+mn-ea"/>
          <a:cs typeface="+mn-cs"/>
        </a:defRPr>
      </a:lvl5pPr>
      <a:lvl6pPr marL="3047924" eaLnBrk="1" hangingPunct="1">
        <a:defRPr>
          <a:latin typeface="+mn-lt"/>
          <a:ea typeface="+mn-ea"/>
          <a:cs typeface="+mn-cs"/>
        </a:defRPr>
      </a:lvl6pPr>
      <a:lvl7pPr marL="3657509" eaLnBrk="1" hangingPunct="1">
        <a:defRPr>
          <a:latin typeface="+mn-lt"/>
          <a:ea typeface="+mn-ea"/>
          <a:cs typeface="+mn-cs"/>
        </a:defRPr>
      </a:lvl7pPr>
      <a:lvl8pPr marL="4267093" eaLnBrk="1" hangingPunct="1">
        <a:defRPr>
          <a:latin typeface="+mn-lt"/>
          <a:ea typeface="+mn-ea"/>
          <a:cs typeface="+mn-cs"/>
        </a:defRPr>
      </a:lvl8pPr>
      <a:lvl9pPr marL="4876678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609585" eaLnBrk="1" hangingPunct="1">
        <a:defRPr>
          <a:latin typeface="+mn-lt"/>
          <a:ea typeface="+mn-ea"/>
          <a:cs typeface="+mn-cs"/>
        </a:defRPr>
      </a:lvl2pPr>
      <a:lvl3pPr marL="1219170" eaLnBrk="1" hangingPunct="1">
        <a:defRPr>
          <a:latin typeface="+mn-lt"/>
          <a:ea typeface="+mn-ea"/>
          <a:cs typeface="+mn-cs"/>
        </a:defRPr>
      </a:lvl3pPr>
      <a:lvl4pPr marL="1828754" eaLnBrk="1" hangingPunct="1">
        <a:defRPr>
          <a:latin typeface="+mn-lt"/>
          <a:ea typeface="+mn-ea"/>
          <a:cs typeface="+mn-cs"/>
        </a:defRPr>
      </a:lvl4pPr>
      <a:lvl5pPr marL="2438339" eaLnBrk="1" hangingPunct="1">
        <a:defRPr>
          <a:latin typeface="+mn-lt"/>
          <a:ea typeface="+mn-ea"/>
          <a:cs typeface="+mn-cs"/>
        </a:defRPr>
      </a:lvl5pPr>
      <a:lvl6pPr marL="3047924" eaLnBrk="1" hangingPunct="1">
        <a:defRPr>
          <a:latin typeface="+mn-lt"/>
          <a:ea typeface="+mn-ea"/>
          <a:cs typeface="+mn-cs"/>
        </a:defRPr>
      </a:lvl6pPr>
      <a:lvl7pPr marL="3657509" eaLnBrk="1" hangingPunct="1">
        <a:defRPr>
          <a:latin typeface="+mn-lt"/>
          <a:ea typeface="+mn-ea"/>
          <a:cs typeface="+mn-cs"/>
        </a:defRPr>
      </a:lvl7pPr>
      <a:lvl8pPr marL="4267093" eaLnBrk="1" hangingPunct="1">
        <a:defRPr>
          <a:latin typeface="+mn-lt"/>
          <a:ea typeface="+mn-ea"/>
          <a:cs typeface="+mn-cs"/>
        </a:defRPr>
      </a:lvl8pPr>
      <a:lvl9pPr marL="4876678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ata science course training in india hyderabad by innomatics research labs  (Ebook) - Read free for 30 days">
            <a:extLst>
              <a:ext uri="{FF2B5EF4-FFF2-40B4-BE49-F238E27FC236}">
                <a16:creationId xmlns:a16="http://schemas.microsoft.com/office/drawing/2014/main" id="{2563DAF4-A5AF-E9B2-6670-572BB49FB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93"/>
          <a:stretch>
            <a:fillRect/>
          </a:stretch>
        </p:blipFill>
        <p:spPr bwMode="auto">
          <a:xfrm>
            <a:off x="3694267" y="200527"/>
            <a:ext cx="5836023" cy="116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78F715-3EF5-4B07-592C-1BFBE3C7C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200" y="200527"/>
            <a:ext cx="1598860" cy="12936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30D8F0-212D-8716-E39B-E9218B9A6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"/>
            <a:ext cx="1809549" cy="183450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57415" y="2357986"/>
            <a:ext cx="104278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>
                <a:latin typeface="+mn-lt"/>
              </a:rPr>
              <a:t>Employee Management </a:t>
            </a:r>
            <a:r>
              <a:rPr lang="en-IN" sz="4400" b="1">
                <a:latin typeface="+mn-lt"/>
              </a:rPr>
              <a:t>System (EMS)</a:t>
            </a:r>
            <a:r>
              <a:rPr lang="en-IN" sz="4400">
                <a:latin typeface="Arial Rounded MT Bold" panose="020F0704030504030204" pitchFamily="34" charset="0"/>
              </a:rPr>
              <a:t>                 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02245" y="3844413"/>
            <a:ext cx="8831091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Snigdha kola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Nazneen Begum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Jeevana Sri</a:t>
            </a:r>
          </a:p>
          <a:p>
            <a:pPr algn="l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Pravallika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20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633" y="763571"/>
            <a:ext cx="11493804" cy="492443"/>
          </a:xfrm>
        </p:spPr>
        <p:txBody>
          <a:bodyPr/>
          <a:lstStyle/>
          <a:p>
            <a:r>
              <a:rPr lang="en-IN" sz="3200"/>
              <a:t>Objective of the Project :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9ACD-719C-265B-ED61-9FA423828831}"/>
              </a:ext>
            </a:extLst>
          </p:cNvPr>
          <p:cNvSpPr txBox="1"/>
          <p:nvPr/>
        </p:nvSpPr>
        <p:spPr>
          <a:xfrm>
            <a:off x="782425" y="1753386"/>
            <a:ext cx="10972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develop a centralized database system to manage employee, department, payroll, qualification, and leave records efficiently.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establish strong relationships between tables using primary and foreign keys to maintain data integrity.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automate salary, bonus, and payroll calculations for accurate financial management.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analyze employee performance, leave patterns, and department-wise salary distribution using SQL queries.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To generate meaningful reports that support management in effective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74299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49" y="480767"/>
            <a:ext cx="11276988" cy="492443"/>
          </a:xfrm>
        </p:spPr>
        <p:txBody>
          <a:bodyPr/>
          <a:lstStyle/>
          <a:p>
            <a:r>
              <a:rPr lang="en-IN" sz="3200"/>
              <a:t>Database Overview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B1FD33-2D10-1A08-1528-D9ADE2A65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0" y="1168924"/>
            <a:ext cx="5110474" cy="1733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833752-E668-C147-5B81-7DAD42B0D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1067"/>
            <a:ext cx="4649190" cy="1929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0A52D0-748F-4A15-E079-E3BB8C757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70" y="3429000"/>
            <a:ext cx="4353533" cy="24250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3DAE70-7DE7-61C8-461F-ACC35980C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582" y="3686253"/>
            <a:ext cx="6351076" cy="219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4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64" y="631597"/>
            <a:ext cx="11662873" cy="612741"/>
          </a:xfrm>
        </p:spPr>
        <p:txBody>
          <a:bodyPr/>
          <a:lstStyle/>
          <a:p>
            <a:r>
              <a:rPr lang="en-US" sz="3200"/>
              <a:t>Database overview:</a:t>
            </a:r>
            <a:endParaRPr lang="en-IN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F23AB-CDF1-004F-CBB9-6794074ED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6" y="1822818"/>
            <a:ext cx="5188964" cy="2522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7D8930-71F6-C019-C078-F36AAC2BE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93" y="1832177"/>
            <a:ext cx="4444239" cy="254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8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44CE-DEE6-79C7-99D8-ED3B6094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64" y="348791"/>
            <a:ext cx="11662873" cy="430887"/>
          </a:xfrm>
        </p:spPr>
        <p:txBody>
          <a:bodyPr/>
          <a:lstStyle/>
          <a:p>
            <a:r>
              <a:rPr lang="en-US" sz="2800"/>
              <a:t>DATA OVERVIEW STRUCTURE:</a:t>
            </a:r>
            <a:endParaRPr lang="en-IN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98517-E881-F838-A518-90C303372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64" y="1246818"/>
            <a:ext cx="3650604" cy="1845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A44D3-51C3-3CC4-7D6D-1FD65DAA3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541" y="978972"/>
            <a:ext cx="3050061" cy="2113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56B15F-D5D6-F2CE-7548-48D8603EA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114" y="978972"/>
            <a:ext cx="2387398" cy="19256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C54585-B625-51A3-00EE-924DB8C5F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40" y="3931370"/>
            <a:ext cx="2493183" cy="18452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EACBC5-4901-4F95-9356-447B1790B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871" y="3805867"/>
            <a:ext cx="3050061" cy="18452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C848B9-D6E3-0F93-59CE-CCBE62F732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080" y="3572881"/>
            <a:ext cx="3413380" cy="207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7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64" y="358220"/>
            <a:ext cx="10453711" cy="984885"/>
          </a:xfrm>
        </p:spPr>
        <p:txBody>
          <a:bodyPr/>
          <a:lstStyle/>
          <a:p>
            <a:r>
              <a:rPr lang="en-IN" sz="3200"/>
              <a:t>ER Diagram and schema explanation :</a:t>
            </a:r>
            <a:br>
              <a:rPr lang="en-IN" sz="3200"/>
            </a:br>
            <a:endParaRPr lang="en-IN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0B1D0-9CAF-8AAF-81E1-85B62C98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98" y="1293614"/>
            <a:ext cx="6825771" cy="505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0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074E-3FFA-BCC6-62A4-66305D67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77" y="269589"/>
            <a:ext cx="11654060" cy="984885"/>
          </a:xfrm>
        </p:spPr>
        <p:txBody>
          <a:bodyPr/>
          <a:lstStyle/>
          <a:p>
            <a:r>
              <a:rPr lang="en-IN" sz="3200"/>
              <a:t> Employee Insights:</a:t>
            </a:r>
            <a:br>
              <a:rPr lang="en-IN" sz="3200"/>
            </a:br>
            <a:endParaRPr lang="en-IN" sz="3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6B1DD7-0E3D-056F-926F-89C4911B7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57" y="1282186"/>
            <a:ext cx="5287549" cy="21210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DC2C6C-A58F-3ACF-7F82-717828905911}"/>
              </a:ext>
            </a:extLst>
          </p:cNvPr>
          <p:cNvSpPr txBox="1"/>
          <p:nvPr/>
        </p:nvSpPr>
        <p:spPr>
          <a:xfrm flipH="1">
            <a:off x="273376" y="809230"/>
            <a:ext cx="755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How many unique employees are currently in the system?</a:t>
            </a:r>
            <a:endParaRPr lang="en-IN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837FB2-442C-6696-7761-8C95E0CD589C}"/>
              </a:ext>
            </a:extLst>
          </p:cNvPr>
          <p:cNvSpPr txBox="1"/>
          <p:nvPr/>
        </p:nvSpPr>
        <p:spPr>
          <a:xfrm>
            <a:off x="7400041" y="1305396"/>
            <a:ext cx="433633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There are </a:t>
            </a:r>
            <a:r>
              <a:rPr lang="en-US" sz="1400" b="1">
                <a:latin typeface="+mn-lt"/>
              </a:rPr>
              <a:t>60 unique employees</a:t>
            </a:r>
            <a:r>
              <a:rPr lang="en-US" sz="1400">
                <a:latin typeface="+mn-lt"/>
              </a:rPr>
              <a:t> currently in the system.</a:t>
            </a:r>
          </a:p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4564AC-D16C-9245-9659-94947642D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76" y="3991838"/>
            <a:ext cx="5377912" cy="27379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0AA4A6-E1D1-EF21-B17A-225D994C4ED2}"/>
              </a:ext>
            </a:extLst>
          </p:cNvPr>
          <p:cNvSpPr txBox="1"/>
          <p:nvPr/>
        </p:nvSpPr>
        <p:spPr>
          <a:xfrm>
            <a:off x="197963" y="3429000"/>
            <a:ext cx="675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departments have the highest number of employees?</a:t>
            </a:r>
            <a:endParaRPr lang="en-IN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3B6798-4387-071F-E8FE-43ABA52B1CA6}"/>
              </a:ext>
            </a:extLst>
          </p:cNvPr>
          <p:cNvSpPr txBox="1"/>
          <p:nvPr/>
        </p:nvSpPr>
        <p:spPr>
          <a:xfrm>
            <a:off x="7579151" y="3704734"/>
            <a:ext cx="3902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 </a:t>
            </a:r>
            <a:r>
              <a:rPr lang="en-US" sz="1400" b="1">
                <a:latin typeface="+mn-lt"/>
              </a:rPr>
              <a:t>Finance and IT departments </a:t>
            </a:r>
            <a:r>
              <a:rPr lang="en-US" sz="1400">
                <a:latin typeface="+mn-lt"/>
              </a:rPr>
              <a:t>have the highest number of employees, with </a:t>
            </a:r>
            <a:r>
              <a:rPr lang="en-US" sz="1400" b="1">
                <a:latin typeface="+mn-lt"/>
              </a:rPr>
              <a:t>9 employees </a:t>
            </a:r>
            <a:r>
              <a:rPr lang="en-US" sz="1400">
                <a:latin typeface="+mn-lt"/>
              </a:rPr>
              <a:t>each.</a:t>
            </a:r>
            <a:endParaRPr lang="en-IN" sz="1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890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AA5B44-52A9-52F1-571A-4244EA69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59" y="1180036"/>
            <a:ext cx="5412717" cy="5154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B22AAD-917E-CFA5-5E0C-E8B3F33F726A}"/>
              </a:ext>
            </a:extLst>
          </p:cNvPr>
          <p:cNvSpPr txBox="1"/>
          <p:nvPr/>
        </p:nvSpPr>
        <p:spPr>
          <a:xfrm>
            <a:off x="264563" y="591640"/>
            <a:ext cx="6617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average salary per department ?</a:t>
            </a:r>
            <a:endParaRPr lang="en-IN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BC246-CB2B-5700-4407-E4DA50B6FB78}"/>
              </a:ext>
            </a:extLst>
          </p:cNvPr>
          <p:cNvSpPr txBox="1"/>
          <p:nvPr/>
        </p:nvSpPr>
        <p:spPr>
          <a:xfrm>
            <a:off x="5910606" y="810704"/>
            <a:ext cx="5637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average salary varies by department, with Legal having the highest average salary </a:t>
            </a:r>
            <a:r>
              <a:rPr lang="en-US" sz="1400" b="1">
                <a:latin typeface="+mn-lt"/>
              </a:rPr>
              <a:t>(₹84,600), </a:t>
            </a:r>
            <a:r>
              <a:rPr lang="en-US" sz="1400">
                <a:latin typeface="+mn-lt"/>
              </a:rPr>
              <a:t>followed</a:t>
            </a:r>
            <a:r>
              <a:rPr lang="en-US" sz="1400" b="1">
                <a:latin typeface="+mn-lt"/>
              </a:rPr>
              <a:t> </a:t>
            </a:r>
            <a:r>
              <a:rPr lang="en-US" sz="1400">
                <a:latin typeface="+mn-lt"/>
              </a:rPr>
              <a:t>by</a:t>
            </a:r>
            <a:r>
              <a:rPr lang="en-US" sz="1400" b="1">
                <a:latin typeface="+mn-lt"/>
              </a:rPr>
              <a:t> Engineering (₹81,142.86) </a:t>
            </a:r>
            <a:r>
              <a:rPr lang="en-US" sz="1400">
                <a:latin typeface="+mn-lt"/>
              </a:rPr>
              <a:t>and</a:t>
            </a:r>
            <a:r>
              <a:rPr lang="en-US" sz="1400" b="1">
                <a:latin typeface="+mn-lt"/>
              </a:rPr>
              <a:t> Sales</a:t>
            </a:r>
            <a:r>
              <a:rPr lang="en-US" sz="1400">
                <a:latin typeface="+mn-lt"/>
              </a:rPr>
              <a:t> </a:t>
            </a:r>
            <a:r>
              <a:rPr lang="en-US" sz="1400" b="1">
                <a:latin typeface="+mn-lt"/>
              </a:rPr>
              <a:t>(₹75,428.57).</a:t>
            </a:r>
            <a:endParaRPr lang="en-IN" sz="14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48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6C02C-53CC-E02F-0EBC-440DEFEE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4" y="1467554"/>
            <a:ext cx="5048955" cy="24863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3922BB-66B6-92D2-214E-34B129DE1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64" y="4272684"/>
            <a:ext cx="4401164" cy="21433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655389-23BA-4BCC-7DCA-C25F3C3ECEA2}"/>
              </a:ext>
            </a:extLst>
          </p:cNvPr>
          <p:cNvSpPr txBox="1"/>
          <p:nvPr/>
        </p:nvSpPr>
        <p:spPr>
          <a:xfrm>
            <a:off x="197964" y="904973"/>
            <a:ext cx="6853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Who are the top 5 hightest- paid employee?</a:t>
            </a:r>
            <a:endParaRPr lang="en-IN">
              <a:latin typeface="+mn-lt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3D38990-67F4-D3D3-B039-84CBC1E1073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50192" y="1697391"/>
            <a:ext cx="5048953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The top 5 highest-paid employees are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Jack Thomas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 and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Paul Clark 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(₹51,500), followed by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Bruce Roberts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Karen Jackson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, and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Wendy Morgan 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rgbClr val="0D0D0D"/>
                </a:solidFill>
                <a:effectLst/>
                <a:latin typeface="+mn-lt"/>
              </a:rPr>
              <a:t>(₹50,500).</a:t>
            </a:r>
            <a:b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602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8AA552-AEFF-DFE1-A83C-D75436FF4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10" y="1791092"/>
            <a:ext cx="6030167" cy="2158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05FEC-8F6A-1686-58A6-AF1459DF3818}"/>
              </a:ext>
            </a:extLst>
          </p:cNvPr>
          <p:cNvSpPr txBox="1"/>
          <p:nvPr/>
        </p:nvSpPr>
        <p:spPr>
          <a:xfrm>
            <a:off x="481379" y="833710"/>
            <a:ext cx="739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total salary expenditure across  the company?</a:t>
            </a:r>
            <a:endParaRPr lang="en-IN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34200-6AFB-EB11-E610-C23A42D6A31D}"/>
              </a:ext>
            </a:extLst>
          </p:cNvPr>
          <p:cNvSpPr txBox="1"/>
          <p:nvPr/>
        </p:nvSpPr>
        <p:spPr>
          <a:xfrm>
            <a:off x="7805394" y="970961"/>
            <a:ext cx="3751868" cy="2271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5036695-09AE-D58C-14AA-CF8CEC6C5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324" y="1356897"/>
            <a:ext cx="434575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salary expenditure across the company is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₹27,78,000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calculated using the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SUM(total_amount)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function on the Payroll table.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65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660A-0E46-B983-F912-95BFECD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9682" y="207389"/>
            <a:ext cx="9134573" cy="677108"/>
          </a:xfrm>
        </p:spPr>
        <p:txBody>
          <a:bodyPr/>
          <a:lstStyle/>
          <a:p>
            <a:r>
              <a:rPr lang="en-US"/>
              <a:t>	</a:t>
            </a:r>
            <a:r>
              <a:rPr lang="en-US" sz="3200"/>
              <a:t>JOB ROLE AND DEPARTMENT ANALYSIS:</a:t>
            </a:r>
            <a:endParaRPr lang="en-IN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6ACD4-5EFE-05F3-3777-ECCB12C4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5" y="1322401"/>
            <a:ext cx="4858428" cy="355332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DF031F3-1790-6872-D815-4D657C11C33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5999" y="1550718"/>
            <a:ext cx="578177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The Finance department has the highest number of distinct job roles (9), followed by IT and Operations (8 each), indicating greater role diversity in these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0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DB147B-C1C5-7CE4-D2BC-2DEBFA93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5" y="1469260"/>
            <a:ext cx="5953956" cy="443927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8824824-7D0F-39FC-439A-1E895A9A95D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48051" y="1016257"/>
            <a:ext cx="440485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Legal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(₹84,600) and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Engineering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(₹81,143) have the highest average salaries, while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HR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(₹62,571) has the lowest, indicating variation in pay structure across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1C8A6-DBBE-F480-2A0A-C2359A7A277C}"/>
              </a:ext>
            </a:extLst>
          </p:cNvPr>
          <p:cNvSpPr txBox="1"/>
          <p:nvPr/>
        </p:nvSpPr>
        <p:spPr>
          <a:xfrm>
            <a:off x="580103" y="570271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average salary range per department?</a:t>
            </a:r>
            <a:endParaRPr lang="en-I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159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CF8542-605B-F1B8-5DBA-DFB9E7E54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8" y="963079"/>
            <a:ext cx="6258798" cy="414969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53BDB83-8C14-DE59-A55E-280E50A288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94089" y="1717212"/>
            <a:ext cx="548639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Finance Director receives the highest salary (₹1,70,000).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Director-level roles offer the top pay across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Senior roles have significantly higher salaries than other positions.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C5EA8-F34B-7F7B-57FB-CA43317A3803}"/>
              </a:ext>
            </a:extLst>
          </p:cNvPr>
          <p:cNvSpPr txBox="1"/>
          <p:nvPr/>
        </p:nvSpPr>
        <p:spPr>
          <a:xfrm>
            <a:off x="127819" y="245806"/>
            <a:ext cx="1003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job roles offer the highesr salary?</a:t>
            </a:r>
            <a:endParaRPr lang="en-I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774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B4C8-BC70-B0BD-61CA-F8AD6D0A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63" y="587044"/>
            <a:ext cx="11662873" cy="276999"/>
          </a:xfrm>
        </p:spPr>
        <p:txBody>
          <a:bodyPr/>
          <a:lstStyle/>
          <a:p>
            <a:r>
              <a:rPr lang="en-US" sz="1800" b="0"/>
              <a:t>Which departments have the highest total salary allocation?</a:t>
            </a:r>
            <a:endParaRPr lang="en-IN" sz="1800" b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9CC89-B906-81DF-BE62-D873DAC0B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2" y="1316529"/>
            <a:ext cx="6118379" cy="467742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914158E-4BAC-6207-4610-6B47AF161E6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93031" y="1756430"/>
            <a:ext cx="54109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Finance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has the highest total salary allocation (₹6,51,000), followed by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(₹6,38,000).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Legal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(₹4,23,000) and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(₹4,38,000) have the lowest total salary allocations.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Salary distribution varies significantly across departments, with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Finance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leading overall expenditure.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43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3EF9F-4D33-C223-4458-FEB06D40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8" y="292231"/>
            <a:ext cx="11682340" cy="669303"/>
          </a:xfrm>
        </p:spPr>
        <p:txBody>
          <a:bodyPr/>
          <a:lstStyle/>
          <a:p>
            <a:r>
              <a:rPr lang="en-IN" sz="3200"/>
              <a:t>QUALIFICATION AND SKILLS ANALYSIS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10183-DE67-4963-EFDD-69E0621D2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9" y="1225485"/>
            <a:ext cx="5128179" cy="2036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180C69-CCEA-2F27-4529-C710553F3D77}"/>
              </a:ext>
            </a:extLst>
          </p:cNvPr>
          <p:cNvSpPr txBox="1"/>
          <p:nvPr/>
        </p:nvSpPr>
        <p:spPr>
          <a:xfrm>
            <a:off x="245098" y="782425"/>
            <a:ext cx="787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How many employees have at least one qualification listed ?</a:t>
            </a:r>
            <a:endParaRPr lang="en-IN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47558-6027-02AA-F562-450C106532DB}"/>
              </a:ext>
            </a:extLst>
          </p:cNvPr>
          <p:cNvSpPr txBox="1"/>
          <p:nvPr/>
        </p:nvSpPr>
        <p:spPr>
          <a:xfrm>
            <a:off x="7183224" y="1225485"/>
            <a:ext cx="4308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A total of </a:t>
            </a:r>
            <a:r>
              <a:rPr lang="en-US" sz="1400" b="1">
                <a:latin typeface="+mn-lt"/>
              </a:rPr>
              <a:t>60 employees</a:t>
            </a:r>
            <a:r>
              <a:rPr lang="en-US" sz="1400">
                <a:latin typeface="+mn-lt"/>
              </a:rPr>
              <a:t> have at least one qualification listed in the system.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3E569E-6D76-A854-0E97-23C21D1A8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41" y="4216186"/>
            <a:ext cx="4722829" cy="20361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6AED0E-D69F-CEA3-24A1-92D2C1E75975}"/>
              </a:ext>
            </a:extLst>
          </p:cNvPr>
          <p:cNvSpPr txBox="1"/>
          <p:nvPr/>
        </p:nvSpPr>
        <p:spPr>
          <a:xfrm>
            <a:off x="245098" y="3572759"/>
            <a:ext cx="821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positions require the most qualification?</a:t>
            </a:r>
            <a:endParaRPr lang="en-IN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3E991-5BCF-426E-6590-01053233310E}"/>
              </a:ext>
            </a:extLst>
          </p:cNvPr>
          <p:cNvSpPr txBox="1"/>
          <p:nvPr/>
        </p:nvSpPr>
        <p:spPr>
          <a:xfrm rot="10800000" flipV="1">
            <a:off x="6740164" y="3816076"/>
            <a:ext cx="498049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All listed positions currently show </a:t>
            </a:r>
            <a:r>
              <a:rPr lang="en-US" sz="1400" b="1">
                <a:latin typeface="+mn-lt"/>
              </a:rPr>
              <a:t>1 qualification each</a:t>
            </a:r>
            <a:r>
              <a:rPr lang="en-US" sz="1400">
                <a:latin typeface="+mn-lt"/>
              </a:rPr>
              <a:t>, indicating no position requires more qualifications than others in the dataset</a:t>
            </a:r>
            <a:r>
              <a:rPr lang="en-US"/>
              <a:t>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3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D9454-3612-7E9D-66B3-3A36B622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38" y="1414021"/>
            <a:ext cx="4486452" cy="2158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6B840C-E812-2310-88E6-D8EAF7B76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1" y="3685969"/>
            <a:ext cx="4734586" cy="1941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7DA055-CE36-7974-570E-331AF40F32A3}"/>
              </a:ext>
            </a:extLst>
          </p:cNvPr>
          <p:cNvSpPr txBox="1"/>
          <p:nvPr/>
        </p:nvSpPr>
        <p:spPr>
          <a:xfrm>
            <a:off x="584462" y="603360"/>
            <a:ext cx="637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employees have the highest number of qualifications?</a:t>
            </a:r>
            <a:endParaRPr lang="en-IN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C4AD6-43DD-8D56-E700-2EC1B09961E6}"/>
              </a:ext>
            </a:extLst>
          </p:cNvPr>
          <p:cNvSpPr txBox="1"/>
          <p:nvPr/>
        </p:nvSpPr>
        <p:spPr>
          <a:xfrm>
            <a:off x="6655323" y="1595784"/>
            <a:ext cx="4817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top employees (John Doe, Jane Smith, Alice Brown, Bob Johnson, and Charlie Williams) each have </a:t>
            </a:r>
            <a:r>
              <a:rPr lang="en-US" sz="1400" b="1">
                <a:latin typeface="+mn-lt"/>
              </a:rPr>
              <a:t>1 qualification</a:t>
            </a:r>
            <a:r>
              <a:rPr lang="en-US" sz="1400">
                <a:latin typeface="+mn-lt"/>
              </a:rPr>
              <a:t>, indicating no employee has more qualifications than others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84253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B2CC-A6D5-BFAA-5B29-A613ACA6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64" y="235670"/>
            <a:ext cx="8775741" cy="492443"/>
          </a:xfrm>
        </p:spPr>
        <p:txBody>
          <a:bodyPr/>
          <a:lstStyle/>
          <a:p>
            <a:r>
              <a:rPr lang="en-US" sz="3200"/>
              <a:t>Leave and Absence patterns :</a:t>
            </a:r>
            <a:endParaRPr lang="en-IN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8214F-F8EA-7075-EB91-F99CB15C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2" y="1220556"/>
            <a:ext cx="4417289" cy="18997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B86FBF-4868-22F2-2795-4C3A514EED64}"/>
              </a:ext>
            </a:extLst>
          </p:cNvPr>
          <p:cNvSpPr txBox="1"/>
          <p:nvPr/>
        </p:nvSpPr>
        <p:spPr>
          <a:xfrm>
            <a:off x="348792" y="728113"/>
            <a:ext cx="718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year had the most employees taking leaves?</a:t>
            </a:r>
            <a:endParaRPr lang="en-IN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18FC6-0B3C-D635-9065-00B61D2BC505}"/>
              </a:ext>
            </a:extLst>
          </p:cNvPr>
          <p:cNvSpPr txBox="1"/>
          <p:nvPr/>
        </p:nvSpPr>
        <p:spPr>
          <a:xfrm>
            <a:off x="6344239" y="867266"/>
            <a:ext cx="46756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2024 recorded the highest employee leave count, with 60 employees taking leave — indicating a peak in absence trends during this year.</a:t>
            </a:r>
            <a:endParaRPr lang="en-IN" sz="140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8A375E-FAD8-2090-717D-46AF3801C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2" y="3120272"/>
            <a:ext cx="3638746" cy="1911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B29C5-42C9-2289-EB7F-3096328C382B}"/>
              </a:ext>
            </a:extLst>
          </p:cNvPr>
          <p:cNvSpPr txBox="1"/>
          <p:nvPr/>
        </p:nvSpPr>
        <p:spPr>
          <a:xfrm>
            <a:off x="113122" y="2762054"/>
            <a:ext cx="886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average number of leave days taken by its employees per department?</a:t>
            </a:r>
            <a:endParaRPr lang="en-IN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06879E-D546-166C-2A7C-356ADD4D3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06" y="5031338"/>
            <a:ext cx="1616789" cy="16866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B8B735-AD85-2655-31BD-FF93FF2A939D}"/>
              </a:ext>
            </a:extLst>
          </p:cNvPr>
          <p:cNvSpPr txBox="1"/>
          <p:nvPr/>
        </p:nvSpPr>
        <p:spPr>
          <a:xfrm>
            <a:off x="6466788" y="3610466"/>
            <a:ext cx="46756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All departments show an average of 1 leave day per employee, indicating a consistent leave pattern across the organization.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849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31BE1E-EADB-3604-9E77-20DF7ED41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42" y="667901"/>
            <a:ext cx="3112180" cy="1830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E4291-BAEC-D3DC-7C36-83AF7FD4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42" y="2498105"/>
            <a:ext cx="2876496" cy="1291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954A65-03B2-14D8-9E76-9EF8E6F7E678}"/>
              </a:ext>
            </a:extLst>
          </p:cNvPr>
          <p:cNvSpPr txBox="1"/>
          <p:nvPr/>
        </p:nvSpPr>
        <p:spPr>
          <a:xfrm>
            <a:off x="272042" y="179109"/>
            <a:ext cx="7665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employees have taken the most leaves?</a:t>
            </a:r>
            <a:endParaRPr lang="en-IN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277612-D1D1-26C5-0511-87D06F87BE1F}"/>
              </a:ext>
            </a:extLst>
          </p:cNvPr>
          <p:cNvSpPr txBox="1"/>
          <p:nvPr/>
        </p:nvSpPr>
        <p:spPr>
          <a:xfrm>
            <a:off x="5637229" y="548441"/>
            <a:ext cx="58728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John Doe, Jane Smith, Alice Brown, Bob Johnson, and Charlie Williams have taken the most leaves, each with 1 leave recorded (no single employee stands out with higher leave count).</a:t>
            </a:r>
          </a:p>
          <a:p>
            <a:endParaRPr lang="en-US"/>
          </a:p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AC0F73-ABC3-CA54-E1F6-BF1538965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0" y="4683496"/>
            <a:ext cx="4535628" cy="12005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C8C4D2-D1BE-91C0-AA52-E0418CD4A143}"/>
              </a:ext>
            </a:extLst>
          </p:cNvPr>
          <p:cNvSpPr txBox="1"/>
          <p:nvPr/>
        </p:nvSpPr>
        <p:spPr>
          <a:xfrm>
            <a:off x="272042" y="4006392"/>
            <a:ext cx="673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total number of leave days taken company- wide?</a:t>
            </a:r>
            <a:endParaRPr lang="en-IN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39D8C-E1A0-FB7C-B8C7-96FB6E16C562}"/>
              </a:ext>
            </a:extLst>
          </p:cNvPr>
          <p:cNvSpPr txBox="1"/>
          <p:nvPr/>
        </p:nvSpPr>
        <p:spPr>
          <a:xfrm rot="10800000" flipV="1">
            <a:off x="7447175" y="3708354"/>
            <a:ext cx="34973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A total of 60 leave days have been taken company-wide, reflecting the overall absence level across the organization.</a:t>
            </a:r>
            <a:endParaRPr lang="en-IN" sz="1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0079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87C78-0068-C5A4-AD16-0C693EFA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1" y="1324990"/>
            <a:ext cx="3687814" cy="16538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64920B-2B98-B9CC-8E78-7613AF342318}"/>
              </a:ext>
            </a:extLst>
          </p:cNvPr>
          <p:cNvSpPr txBox="1"/>
          <p:nvPr/>
        </p:nvSpPr>
        <p:spPr>
          <a:xfrm rot="10800000" flipV="1">
            <a:off x="461915" y="482453"/>
            <a:ext cx="513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How do leave days coorelate with payroll amounts?</a:t>
            </a:r>
            <a:endParaRPr lang="en-IN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5E52B-9752-27B6-7708-F0B15CCAF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1" y="3356836"/>
            <a:ext cx="4046571" cy="1820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FE2B7C-DB68-34BE-5D2B-32D0E306D264}"/>
              </a:ext>
            </a:extLst>
          </p:cNvPr>
          <p:cNvSpPr txBox="1"/>
          <p:nvPr/>
        </p:nvSpPr>
        <p:spPr>
          <a:xfrm>
            <a:off x="6096000" y="2151930"/>
            <a:ext cx="5137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There is no visible correlation between leave days and payroll amounts, as all employees have taken 1 leave day while payroll amounts vary across individuals.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075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00D4-DDC5-942C-DF6D-6E661957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26243" y="424207"/>
            <a:ext cx="11701194" cy="701822"/>
          </a:xfrm>
        </p:spPr>
        <p:txBody>
          <a:bodyPr/>
          <a:lstStyle/>
          <a:p>
            <a:r>
              <a:rPr lang="en-IN" sz="3200"/>
              <a:t>PAYROLL AND COMPENSATION ANALYSIS: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14C1B-B7D7-AF06-C3C3-152D3D2D2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5" y="1097751"/>
            <a:ext cx="4756824" cy="2097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3F8720-224D-FF8F-2FC9-F1354E365428}"/>
              </a:ext>
            </a:extLst>
          </p:cNvPr>
          <p:cNvSpPr txBox="1"/>
          <p:nvPr/>
        </p:nvSpPr>
        <p:spPr>
          <a:xfrm>
            <a:off x="6476214" y="1263192"/>
            <a:ext cx="46285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Monthly payroll is aggregated by year and month, showing the total payroll amount paid each month to track salary trends over time.</a:t>
            </a:r>
          </a:p>
          <a:p>
            <a:endParaRPr lang="en-US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In April 2024, the total monthly payroll amounted to 2,778,000, indicating a significant salary expenditure for that month.</a:t>
            </a:r>
            <a:endParaRPr lang="en-IN" sz="140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69446-0112-45FA-13C2-F1B2E5E72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85" y="3648327"/>
            <a:ext cx="3603157" cy="25246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CB0818-2398-E03C-80C2-943DA399D990}"/>
              </a:ext>
            </a:extLst>
          </p:cNvPr>
          <p:cNvSpPr txBox="1"/>
          <p:nvPr/>
        </p:nvSpPr>
        <p:spPr>
          <a:xfrm>
            <a:off x="380785" y="3195687"/>
            <a:ext cx="609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average bonus given per department?</a:t>
            </a:r>
            <a:endParaRPr lang="en-IN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76172-547F-5AC7-4BE0-A55CCDED8D0C}"/>
              </a:ext>
            </a:extLst>
          </p:cNvPr>
          <p:cNvSpPr txBox="1"/>
          <p:nvPr/>
        </p:nvSpPr>
        <p:spPr>
          <a:xfrm>
            <a:off x="6777871" y="3648327"/>
            <a:ext cx="4326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Average bonus varies by department, with some departments receiving higher incentive payouts than others, highlighting differences in performance-based rewards.</a:t>
            </a:r>
          </a:p>
        </p:txBody>
      </p:sp>
    </p:spTree>
    <p:extLst>
      <p:ext uri="{BB962C8B-B14F-4D97-AF65-F5344CB8AC3E}">
        <p14:creationId xmlns:p14="http://schemas.microsoft.com/office/powerpoint/2010/main" val="3761605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676723-660D-DA87-522B-D94E360C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5" y="955666"/>
            <a:ext cx="4130874" cy="1712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BBCCC-F3E7-0B50-1DDE-3B9AE092A6B0}"/>
              </a:ext>
            </a:extLst>
          </p:cNvPr>
          <p:cNvSpPr txBox="1"/>
          <p:nvPr/>
        </p:nvSpPr>
        <p:spPr>
          <a:xfrm>
            <a:off x="197963" y="367645"/>
            <a:ext cx="637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Which department receives the highest total bonuses?</a:t>
            </a:r>
            <a:endParaRPr lang="en-IN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2742D-DD34-84D0-4915-E2FED9F4C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5" y="2788745"/>
            <a:ext cx="3343742" cy="1245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3C2D77-470F-FFEF-5E00-FC8E8CA38D12}"/>
              </a:ext>
            </a:extLst>
          </p:cNvPr>
          <p:cNvSpPr txBox="1"/>
          <p:nvPr/>
        </p:nvSpPr>
        <p:spPr>
          <a:xfrm>
            <a:off x="6438507" y="736977"/>
            <a:ext cx="38461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department at the top of the result receives the highest total bonus payout, indicating it has the largest overall incentive allocation in the company.</a:t>
            </a:r>
          </a:p>
          <a:p>
            <a:endParaRPr lang="en-US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Finance department receives the highest total bonus, amounting to 96,000, indicating it has the largest overall incentive payout.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n-lt"/>
            </a:endParaRPr>
          </a:p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5568B2-B238-77C8-AC23-D60A433E9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65" y="4374576"/>
            <a:ext cx="4644925" cy="14506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CD8EAC-1352-6019-2DAD-93BD98E315D4}"/>
              </a:ext>
            </a:extLst>
          </p:cNvPr>
          <p:cNvSpPr txBox="1"/>
          <p:nvPr/>
        </p:nvSpPr>
        <p:spPr>
          <a:xfrm>
            <a:off x="197963" y="3733014"/>
            <a:ext cx="8399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What is the average value of total_amount after considering leave deduction?</a:t>
            </a:r>
            <a:endParaRPr lang="en-IN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9EA2E-A256-9CB4-5C10-D483DD78936C}"/>
              </a:ext>
            </a:extLst>
          </p:cNvPr>
          <p:cNvSpPr txBox="1"/>
          <p:nvPr/>
        </p:nvSpPr>
        <p:spPr>
          <a:xfrm rot="10800000" flipH="1" flipV="1">
            <a:off x="7286920" y="4165927"/>
            <a:ext cx="43080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average final payroll amount represents the typical salary payout per payroll record across the organization.</a:t>
            </a:r>
          </a:p>
          <a:p>
            <a:endParaRPr lang="en-US" sz="140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+mn-lt"/>
              </a:rPr>
              <a:t>The average final payroll amount is 46,300, indicating the typical salary payout per payroll cycle.</a:t>
            </a:r>
          </a:p>
        </p:txBody>
      </p:sp>
    </p:spTree>
    <p:extLst>
      <p:ext uri="{BB962C8B-B14F-4D97-AF65-F5344CB8AC3E}">
        <p14:creationId xmlns:p14="http://schemas.microsoft.com/office/powerpoint/2010/main" val="4090834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9B17-3028-875A-D7CC-C602D0BB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63" y="356640"/>
            <a:ext cx="11662873" cy="492443"/>
          </a:xfrm>
        </p:spPr>
        <p:txBody>
          <a:bodyPr/>
          <a:lstStyle/>
          <a:p>
            <a:r>
              <a:rPr lang="en-US" sz="3200"/>
              <a:t>Overall insights:</a:t>
            </a:r>
            <a:endParaRPr lang="en-IN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46F80A-4B54-4FB9-8F7F-F437A0C4F1F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6411" y="1516822"/>
            <a:ext cx="942913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database integrates Employee, Department, Salary, Bonus, Leave, Qualification, and Payroll data into a structured HR management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Workforce distribution across departments is balanced, supporting efficient organizational operations.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average payroll amount (₹46,300) indicates a stable and consistent compensation structure.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Monthly payroll analysis (e.g., ₹27,78,000 in April 2024) helps track company salary expenditure trends.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Finance department records the highest total bonus payout (₹96,000), showing strong incentive allocation.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Department-wise salary and bonus variations highlight performance-based reward differences.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Leave analysis shows controlled absenteeism, with no extreme leave patterns affecting payroll significantly.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Qualification tracking and top-paid employee analysis enable strategic HR decisions in promotions, budgeting, and workforce planning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764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82AB-9A35-A86C-7090-D157E784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64" y="648930"/>
            <a:ext cx="11662873" cy="688258"/>
          </a:xfrm>
        </p:spPr>
        <p:txBody>
          <a:bodyPr/>
          <a:lstStyle/>
          <a:p>
            <a:r>
              <a:rPr lang="en-US" sz="3200"/>
              <a:t>Conclusion:</a:t>
            </a:r>
            <a:endParaRPr lang="en-IN" sz="32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257ED0-DE7D-F6E5-4982-ED92C747EC0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0606" y="1645095"/>
            <a:ext cx="992074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project successfully integrates employee, payroll, leave, department, and qualification data into one structured system.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SQL queries provide meaningful insights into salary trends, bonuses, and workforce distribution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Payroll analysis helps monitor monthly expenditure and average compensation levels.</a:t>
            </a:r>
            <a:endParaRPr lang="en-US" altLang="en-US">
              <a:solidFill>
                <a:schemeClr val="tx1"/>
              </a:solidFill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Bonus and salary comparisons support performance-based evaluation.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Leave tracking ensures better attendance monitoring and payroll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Qualification analysis helps identify skilled employees and role requirements.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system improves data accuracy through proper primary and foreign key relationships.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Overall, the project enhances HR decision-making, transparency, and organizational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514478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6;p5">
            <a:extLst>
              <a:ext uri="{FF2B5EF4-FFF2-40B4-BE49-F238E27FC236}">
                <a16:creationId xmlns:a16="http://schemas.microsoft.com/office/drawing/2014/main" id="{659FCE3B-B6A0-369A-8C00-EF8CBA6B74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80170" y="1418688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82E68B-AD19-21B0-C24C-73219448E339}"/>
              </a:ext>
            </a:extLst>
          </p:cNvPr>
          <p:cNvSpPr txBox="1"/>
          <p:nvPr/>
        </p:nvSpPr>
        <p:spPr>
          <a:xfrm>
            <a:off x="4128940" y="4798243"/>
            <a:ext cx="5118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latin typeface="+mj-lt"/>
              </a:rPr>
              <a:t>THANK YOU</a:t>
            </a:r>
            <a:endParaRPr lang="en-IN" sz="5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140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EDA PPT (3)</Template>
  <TotalTime>2300</TotalTime>
  <Words>1181</Words>
  <Application>Microsoft Office PowerPoint</Application>
  <PresentationFormat>Widescreen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Rounded MT Bold</vt:lpstr>
      <vt:lpstr>Arial Unicode MS</vt:lpstr>
      <vt:lpstr>Calibri</vt:lpstr>
      <vt:lpstr>Times New Roman</vt:lpstr>
      <vt:lpstr>Wingdings</vt:lpstr>
      <vt:lpstr>Office Theme</vt:lpstr>
      <vt:lpstr>PowerPoint Presentation</vt:lpstr>
      <vt:lpstr>Objective of the Project :</vt:lpstr>
      <vt:lpstr>Database Overview :</vt:lpstr>
      <vt:lpstr>Database overview:</vt:lpstr>
      <vt:lpstr>DATA OVERVIEW STRUCTURE:</vt:lpstr>
      <vt:lpstr>ER Diagram and schema explanation : </vt:lpstr>
      <vt:lpstr> Employee Insights: </vt:lpstr>
      <vt:lpstr>PowerPoint Presentation</vt:lpstr>
      <vt:lpstr>PowerPoint Presentation</vt:lpstr>
      <vt:lpstr>PowerPoint Presentation</vt:lpstr>
      <vt:lpstr> JOB ROLE AND DEPARTMENT ANALYSIS:</vt:lpstr>
      <vt:lpstr>PowerPoint Presentation</vt:lpstr>
      <vt:lpstr>PowerPoint Presentation</vt:lpstr>
      <vt:lpstr>Which departments have the highest total salary allocation?</vt:lpstr>
      <vt:lpstr>QUALIFICATION AND SKILLS ANALYSIS :</vt:lpstr>
      <vt:lpstr>PowerPoint Presentation</vt:lpstr>
      <vt:lpstr>Leave and Absence patterns :</vt:lpstr>
      <vt:lpstr>PowerPoint Presentation</vt:lpstr>
      <vt:lpstr>PowerPoint Presentation</vt:lpstr>
      <vt:lpstr>PAYROLL AND COMPENSATION ANALYSIS: </vt:lpstr>
      <vt:lpstr>PowerPoint Presentation</vt:lpstr>
      <vt:lpstr>Overall insights: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jakkoju vikas</dc:creator>
  <cp:lastModifiedBy>ADMIN</cp:lastModifiedBy>
  <cp:revision>16</cp:revision>
  <dcterms:created xsi:type="dcterms:W3CDTF">2025-12-14T16:36:44Z</dcterms:created>
  <dcterms:modified xsi:type="dcterms:W3CDTF">2026-03-07T05:47:59Z</dcterms:modified>
</cp:coreProperties>
</file>